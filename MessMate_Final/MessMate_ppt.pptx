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90" r:id="rId4"/>
    <p:sldId id="291" r:id="rId5"/>
    <p:sldId id="28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7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-96" y="7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58200" y="0"/>
            <a:ext cx="3730752" cy="6858000"/>
          </a:xfrm>
          <a:prstGeom prst="rect">
            <a:avLst/>
          </a:prstGeom>
          <a:solidFill>
            <a:srgbClr val="302B26"/>
          </a:solidFill>
          <a:ln>
            <a:solidFill>
              <a:srgbClr val="30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32520" y="914400"/>
            <a:ext cx="2468880" cy="2468880"/>
          </a:xfrm>
          <a:prstGeom prst="ellipse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46920" y="1874519"/>
            <a:ext cx="1691640" cy="1691640"/>
          </a:xfrm>
          <a:prstGeom prst="ellipse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23960" y="3200400"/>
            <a:ext cx="2194560" cy="2194560"/>
          </a:xfrm>
          <a:prstGeom prst="ellipse">
            <a:avLst/>
          </a:prstGeom>
          <a:solidFill>
            <a:srgbClr val="ECE2D2"/>
          </a:solidFill>
          <a:ln>
            <a:solidFill>
              <a:srgbClr val="EC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4343400"/>
            <a:ext cx="1005840" cy="54864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62A8F6-EBA6-1AAA-6CC4-33C9E2A77A2B}"/>
              </a:ext>
            </a:extLst>
          </p:cNvPr>
          <p:cNvSpPr txBox="1"/>
          <p:nvPr/>
        </p:nvSpPr>
        <p:spPr>
          <a:xfrm>
            <a:off x="822960" y="1686210"/>
            <a:ext cx="4423867" cy="103412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BE9953"/>
                </a:solidFill>
                <a:latin typeface="Aptos"/>
              </a:defRPr>
            </a:pPr>
            <a:r>
              <a:rPr sz="6000" dirty="0"/>
              <a:t>MESSMATE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F88743-4FE3-FFD8-447E-B1391D2CF6BC}"/>
              </a:ext>
            </a:extLst>
          </p:cNvPr>
          <p:cNvSpPr txBox="1"/>
          <p:nvPr/>
        </p:nvSpPr>
        <p:spPr>
          <a:xfrm>
            <a:off x="897941" y="2743456"/>
            <a:ext cx="4765853" cy="1318823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3800" b="1" i="0">
                <a:solidFill>
                  <a:srgbClr val="FFFFFF"/>
                </a:solidFill>
                <a:latin typeface="Aptos Display"/>
              </a:defRPr>
            </a:pPr>
            <a:r>
              <a:rPr dirty="0"/>
              <a:t>Eat Better.</a:t>
            </a:r>
          </a:p>
          <a:p>
            <a:pPr algn="l">
              <a:spcAft>
                <a:spcPts val="300"/>
              </a:spcAft>
              <a:defRPr sz="3800" b="1" i="0">
                <a:solidFill>
                  <a:srgbClr val="FFFFFF"/>
                </a:solidFill>
                <a:latin typeface="Aptos Display"/>
              </a:defRPr>
            </a:pPr>
            <a:r>
              <a:rPr dirty="0"/>
              <a:t>Choose Smarter.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6BFE3E-AAED-DB7D-93AF-C3884D025439}"/>
              </a:ext>
            </a:extLst>
          </p:cNvPr>
          <p:cNvSpPr txBox="1"/>
          <p:nvPr/>
        </p:nvSpPr>
        <p:spPr>
          <a:xfrm>
            <a:off x="644653" y="5394960"/>
            <a:ext cx="4277563" cy="70326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BEB5A8"/>
                </a:solidFill>
                <a:latin typeface="Aptos"/>
              </a:defRPr>
            </a:pPr>
            <a:r>
              <a:rPr lang="en-US" dirty="0"/>
              <a:t>By-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BEB5A8"/>
                </a:solidFill>
                <a:latin typeface="Aptos"/>
              </a:defRPr>
            </a:pPr>
            <a:r>
              <a:rPr lang="en-US" dirty="0"/>
              <a:t>Aasandi(70022400133)</a:t>
            </a:r>
            <a:br>
              <a:rPr lang="en-US" dirty="0"/>
            </a:br>
            <a:r>
              <a:rPr lang="en-US" dirty="0"/>
              <a:t>Harkirat Kaur(70022400577)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B74D8CE2-4A41-61A2-6AF9-BFBD3C16218C}"/>
              </a:ext>
            </a:extLst>
          </p:cNvPr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48C0251-B3F6-F2E7-7CE6-6C9EDAF406CB}"/>
              </a:ext>
            </a:extLst>
          </p:cNvPr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36977C-4657-78D1-4C54-9057990CDA08}"/>
              </a:ext>
            </a:extLst>
          </p:cNvPr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01 • PROBLEM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9912A1-06CE-4059-F406-DC1EEF215FBD}"/>
              </a:ext>
            </a:extLst>
          </p:cNvPr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59DA25-F6DF-707B-D2E7-3FC848344387}"/>
              </a:ext>
            </a:extLst>
          </p:cNvPr>
          <p:cNvSpPr txBox="1"/>
          <p:nvPr/>
        </p:nvSpPr>
        <p:spPr>
          <a:xfrm>
            <a:off x="822960" y="1506027"/>
            <a:ext cx="10244938" cy="117262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300" b="1" i="0">
                <a:solidFill>
                  <a:srgbClr val="262320"/>
                </a:solidFill>
                <a:latin typeface="Aptos Display"/>
              </a:defRPr>
            </a:pPr>
            <a:r>
              <a:rPr dirty="0"/>
              <a:t>Students living in a </a:t>
            </a:r>
            <a:r>
              <a:rPr lang="en-US" dirty="0"/>
              <a:t>hostel or accessing canteen</a:t>
            </a:r>
            <a:r>
              <a:rPr dirty="0"/>
              <a:t> often have limited visibility into meal options and little structured support for choosing food that fits their preferences.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E8D26F-1557-A52F-532D-0AE691E95B51}"/>
              </a:ext>
            </a:extLst>
          </p:cNvPr>
          <p:cNvSpPr txBox="1"/>
          <p:nvPr/>
        </p:nvSpPr>
        <p:spPr>
          <a:xfrm>
            <a:off x="1980590" y="2841369"/>
            <a:ext cx="7894930" cy="1834348"/>
          </a:xfrm>
          <a:prstGeom prst="rect">
            <a:avLst/>
          </a:prstGeom>
          <a:noFill/>
        </p:spPr>
        <p:txBody>
          <a:bodyPr wrap="square" lIns="54864" t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2320"/>
                </a:solidFill>
                <a:latin typeface="Aptos"/>
              </a:defRPr>
            </a:pPr>
            <a:r>
              <a:rPr sz="2000" dirty="0"/>
              <a:t>• Meal information can be scattered or difficult to compare.</a:t>
            </a:r>
          </a:p>
          <a:p>
            <a:pPr>
              <a:spcAft>
                <a:spcPts val="600"/>
              </a:spcAft>
              <a:defRPr sz="1500">
                <a:solidFill>
                  <a:srgbClr val="262320"/>
                </a:solidFill>
                <a:latin typeface="Aptos"/>
              </a:defRPr>
            </a:pPr>
            <a:r>
              <a:rPr sz="2000" dirty="0"/>
              <a:t>• Students may have different dietary types and spice preferences.</a:t>
            </a:r>
          </a:p>
          <a:p>
            <a:pPr>
              <a:spcAft>
                <a:spcPts val="600"/>
              </a:spcAft>
              <a:defRPr sz="1500">
                <a:solidFill>
                  <a:srgbClr val="262320"/>
                </a:solidFill>
                <a:latin typeface="Aptos"/>
              </a:defRPr>
            </a:pPr>
            <a:r>
              <a:rPr sz="2000" dirty="0"/>
              <a:t>• Students need a simple way to view meals and submit feedback.</a:t>
            </a:r>
          </a:p>
          <a:p>
            <a:pPr>
              <a:spcAft>
                <a:spcPts val="600"/>
              </a:spcAft>
              <a:defRPr sz="1500">
                <a:solidFill>
                  <a:srgbClr val="262320"/>
                </a:solidFill>
                <a:latin typeface="Aptos"/>
              </a:defRPr>
            </a:pPr>
            <a:r>
              <a:rPr sz="2000" dirty="0"/>
              <a:t>• Feedback is more useful when it can be stored and reviewed systematically.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6DF7CA-99EB-B4FC-83BA-63C8BC6C0F37}"/>
              </a:ext>
            </a:extLst>
          </p:cNvPr>
          <p:cNvSpPr txBox="1"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AD583D"/>
                </a:solidFill>
                <a:latin typeface="Aptos"/>
              </a:defRPr>
            </a:pPr>
            <a:r>
              <a:t>Focus: make meal discovery clearer and support more informed choices.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95D4C-2360-3DA1-A3D8-A02CAEA7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4FA942-B62E-BB4A-1450-E5BC97E4832A}"/>
              </a:ext>
            </a:extLst>
          </p:cNvPr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51214B-63D8-A96F-91A3-96103ECB4B7D}"/>
              </a:ext>
            </a:extLst>
          </p:cNvPr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DAADF9-888B-8EA1-30F9-2DE798C116B0}"/>
              </a:ext>
            </a:extLst>
          </p:cNvPr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01 •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CA7BFB-96B6-3E4E-B9E6-D53A40C77F76}"/>
              </a:ext>
            </a:extLst>
          </p:cNvPr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EFBBF-545B-196C-2C5C-D683BB50E8F1}"/>
              </a:ext>
            </a:extLst>
          </p:cNvPr>
          <p:cNvSpPr txBox="1"/>
          <p:nvPr/>
        </p:nvSpPr>
        <p:spPr>
          <a:xfrm>
            <a:off x="758952" y="1282903"/>
            <a:ext cx="10607040" cy="777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262320"/>
                </a:solidFill>
                <a:latin typeface="Aptos Display"/>
              </a:defRPr>
            </a:pPr>
            <a:r>
              <a:t>MessMate is an Android app that brings meal discovery, preference capture, meal feedback and recommendation logic into one place.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D0D656F4-5918-DB21-726A-581E272A6EB5}"/>
              </a:ext>
            </a:extLst>
          </p:cNvPr>
          <p:cNvSpPr/>
          <p:nvPr/>
        </p:nvSpPr>
        <p:spPr>
          <a:xfrm>
            <a:off x="758952" y="2249425"/>
            <a:ext cx="3429000" cy="132588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E24093-EE64-ED21-792B-CC64667180B8}"/>
              </a:ext>
            </a:extLst>
          </p:cNvPr>
          <p:cNvSpPr/>
          <p:nvPr/>
        </p:nvSpPr>
        <p:spPr>
          <a:xfrm>
            <a:off x="758952" y="2249425"/>
            <a:ext cx="64008" cy="1325880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246B1B-6AD0-9F1A-1441-DF4F1CFA1650}"/>
              </a:ext>
            </a:extLst>
          </p:cNvPr>
          <p:cNvSpPr txBox="1"/>
          <p:nvPr/>
        </p:nvSpPr>
        <p:spPr>
          <a:xfrm>
            <a:off x="941832" y="2359153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0158B0-74F7-8475-2B1F-C18BC4B28916}"/>
              </a:ext>
            </a:extLst>
          </p:cNvPr>
          <p:cNvSpPr txBox="1"/>
          <p:nvPr/>
        </p:nvSpPr>
        <p:spPr>
          <a:xfrm>
            <a:off x="941832" y="2706625"/>
            <a:ext cx="3081528" cy="7955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96158"/>
                </a:solidFill>
                <a:latin typeface="Aptos"/>
              </a:defRPr>
            </a:pPr>
            <a:r>
              <a:t>View meals and their details, category, availability and ratings.</a:t>
            </a: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00A4E179-4C05-7CE4-CCD3-586A8FEC5A37}"/>
              </a:ext>
            </a:extLst>
          </p:cNvPr>
          <p:cNvSpPr/>
          <p:nvPr/>
        </p:nvSpPr>
        <p:spPr>
          <a:xfrm>
            <a:off x="4416552" y="2249425"/>
            <a:ext cx="3429000" cy="132588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4A4F5-2D9E-1A2D-E5F7-0BA5AA66A37E}"/>
              </a:ext>
            </a:extLst>
          </p:cNvPr>
          <p:cNvSpPr/>
          <p:nvPr/>
        </p:nvSpPr>
        <p:spPr>
          <a:xfrm>
            <a:off x="4416552" y="2249425"/>
            <a:ext cx="64008" cy="1325880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BD8FDE-5F4E-F9EF-C611-889BD79D4F4F}"/>
              </a:ext>
            </a:extLst>
          </p:cNvPr>
          <p:cNvSpPr txBox="1"/>
          <p:nvPr/>
        </p:nvSpPr>
        <p:spPr>
          <a:xfrm>
            <a:off x="4599432" y="2359153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Personalize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9738DD-557F-3C74-747D-54A8A40B4901}"/>
              </a:ext>
            </a:extLst>
          </p:cNvPr>
          <p:cNvSpPr txBox="1"/>
          <p:nvPr/>
        </p:nvSpPr>
        <p:spPr>
          <a:xfrm>
            <a:off x="4599432" y="2706625"/>
            <a:ext cx="3081528" cy="7955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96158"/>
                </a:solidFill>
                <a:latin typeface="Aptos"/>
              </a:defRPr>
            </a:pPr>
            <a:r>
              <a:t>Capture food type, spice level, favourite foods and dislikes.</a:t>
            </a:r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FE7CCFD2-58A7-8886-022B-AA4EB4D847B0}"/>
              </a:ext>
            </a:extLst>
          </p:cNvPr>
          <p:cNvSpPr/>
          <p:nvPr/>
        </p:nvSpPr>
        <p:spPr>
          <a:xfrm>
            <a:off x="8074152" y="2249425"/>
            <a:ext cx="3429000" cy="132588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F79EFA-ED52-AD5E-3303-9A5B1115EF86}"/>
              </a:ext>
            </a:extLst>
          </p:cNvPr>
          <p:cNvSpPr/>
          <p:nvPr/>
        </p:nvSpPr>
        <p:spPr>
          <a:xfrm>
            <a:off x="8074152" y="2249425"/>
            <a:ext cx="64008" cy="1325880"/>
          </a:xfrm>
          <a:prstGeom prst="rect">
            <a:avLst/>
          </a:prstGeom>
          <a:solidFill>
            <a:srgbClr val="4B745B"/>
          </a:solidFill>
          <a:ln>
            <a:solidFill>
              <a:srgbClr val="4B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2A8927-3F21-B475-101E-2FCAB2472C34}"/>
              </a:ext>
            </a:extLst>
          </p:cNvPr>
          <p:cNvSpPr txBox="1"/>
          <p:nvPr/>
        </p:nvSpPr>
        <p:spPr>
          <a:xfrm>
            <a:off x="8257032" y="2359153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Improve decisions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FA7411-5EBA-2C46-6FBD-00AF1BF0F579}"/>
              </a:ext>
            </a:extLst>
          </p:cNvPr>
          <p:cNvSpPr txBox="1"/>
          <p:nvPr/>
        </p:nvSpPr>
        <p:spPr>
          <a:xfrm>
            <a:off x="8257032" y="2706625"/>
            <a:ext cx="3081528" cy="7955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96158"/>
                </a:solidFill>
                <a:latin typeface="Aptos"/>
              </a:defRPr>
            </a:pPr>
            <a:r>
              <a:t>Use rating data and a rule-based engine to support meal recommendations.</a:t>
            </a:r>
          </a:p>
        </p:txBody>
      </p:sp>
      <p:sp>
        <p:nvSpPr>
          <p:cNvPr id="37" name="Freeform 18">
            <a:extLst>
              <a:ext uri="{FF2B5EF4-FFF2-40B4-BE49-F238E27FC236}">
                <a16:creationId xmlns:a16="http://schemas.microsoft.com/office/drawing/2014/main" id="{282991AA-FB31-9FB7-AB9A-9AFFDE6875D1}"/>
              </a:ext>
            </a:extLst>
          </p:cNvPr>
          <p:cNvSpPr/>
          <p:nvPr/>
        </p:nvSpPr>
        <p:spPr>
          <a:xfrm>
            <a:off x="1746400" y="3816219"/>
            <a:ext cx="1472392" cy="2762427"/>
          </a:xfrm>
          <a:custGeom>
            <a:avLst/>
            <a:gdLst/>
            <a:ahLst/>
            <a:cxnLst/>
            <a:rect l="l" t="t" r="r" b="b"/>
            <a:pathLst>
              <a:path w="1988486" h="4017214">
                <a:moveTo>
                  <a:pt x="0" y="0"/>
                </a:moveTo>
                <a:lnTo>
                  <a:pt x="1988486" y="0"/>
                </a:lnTo>
                <a:lnTo>
                  <a:pt x="1988486" y="4017214"/>
                </a:lnTo>
                <a:lnTo>
                  <a:pt x="0" y="4017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7390"/>
            </a:stretch>
          </a:blipFill>
        </p:spPr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472E7CA2-2236-F402-4004-680D8271120C}"/>
              </a:ext>
            </a:extLst>
          </p:cNvPr>
          <p:cNvSpPr/>
          <p:nvPr/>
        </p:nvSpPr>
        <p:spPr>
          <a:xfrm>
            <a:off x="5581469" y="3816219"/>
            <a:ext cx="1453421" cy="2778358"/>
          </a:xfrm>
          <a:custGeom>
            <a:avLst/>
            <a:gdLst/>
            <a:ahLst/>
            <a:cxnLst/>
            <a:rect l="l" t="t" r="r" b="b"/>
            <a:pathLst>
              <a:path w="1962866" h="4040382">
                <a:moveTo>
                  <a:pt x="0" y="0"/>
                </a:moveTo>
                <a:lnTo>
                  <a:pt x="1962866" y="0"/>
                </a:lnTo>
                <a:lnTo>
                  <a:pt x="1962866" y="4040381"/>
                </a:lnTo>
                <a:lnTo>
                  <a:pt x="0" y="4040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5296"/>
            </a:stretch>
          </a:blipFill>
        </p:spPr>
      </p:sp>
      <p:sp>
        <p:nvSpPr>
          <p:cNvPr id="43" name="Freeform 20">
            <a:extLst>
              <a:ext uri="{FF2B5EF4-FFF2-40B4-BE49-F238E27FC236}">
                <a16:creationId xmlns:a16="http://schemas.microsoft.com/office/drawing/2014/main" id="{011151A6-8D79-2D4F-80F4-19A3DBEF6975}"/>
              </a:ext>
            </a:extLst>
          </p:cNvPr>
          <p:cNvSpPr/>
          <p:nvPr/>
        </p:nvSpPr>
        <p:spPr>
          <a:xfrm>
            <a:off x="9031816" y="3902625"/>
            <a:ext cx="1336261" cy="2589614"/>
          </a:xfrm>
          <a:custGeom>
            <a:avLst/>
            <a:gdLst/>
            <a:ahLst/>
            <a:cxnLst/>
            <a:rect l="l" t="t" r="r" b="b"/>
            <a:pathLst>
              <a:path w="1804639" h="3765904">
                <a:moveTo>
                  <a:pt x="0" y="0"/>
                </a:moveTo>
                <a:lnTo>
                  <a:pt x="1804639" y="0"/>
                </a:lnTo>
                <a:lnTo>
                  <a:pt x="1804639" y="3765904"/>
                </a:lnTo>
                <a:lnTo>
                  <a:pt x="0" y="3765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6962"/>
            </a:stretch>
          </a:blipFill>
        </p:spPr>
      </p:sp>
    </p:spTree>
    <p:extLst>
      <p:ext uri="{BB962C8B-B14F-4D97-AF65-F5344CB8AC3E}">
        <p14:creationId xmlns:p14="http://schemas.microsoft.com/office/powerpoint/2010/main" val="280087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76F82-3D69-A262-8B52-1195117A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CAD7F9-BB9D-2BC2-1A6B-246CB0FA0A9A}"/>
              </a:ext>
            </a:extLst>
          </p:cNvPr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04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4DD99-5E83-CE7F-20DA-C5827C03F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141" y="1108251"/>
            <a:ext cx="2132261" cy="46414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BA4303-9B76-6370-C333-9ABE7D271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155" y="1113126"/>
            <a:ext cx="2309041" cy="46713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203FDF-4059-419C-6380-753E09ED9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950" y="1108252"/>
            <a:ext cx="2279295" cy="46713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E29604-1190-3BE6-027F-98805C7A0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326" y="1108251"/>
            <a:ext cx="2206410" cy="46414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CC99728-57AF-2E5A-C946-CB0BCF8E30A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014" t="1706" r="7706" b="2667"/>
          <a:stretch>
            <a:fillRect/>
          </a:stretch>
        </p:blipFill>
        <p:spPr>
          <a:xfrm>
            <a:off x="96704" y="1108251"/>
            <a:ext cx="2247265" cy="464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9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FF47F-0D03-1A2D-D6FA-1AEB46D59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284D53-25EC-7A02-5551-F302CC7A38FA}"/>
              </a:ext>
            </a:extLst>
          </p:cNvPr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rPr dirty="0"/>
              <a:t>Why is the code divided into folders?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74C23-73D0-DACD-553C-6FC086CCFAE5}"/>
              </a:ext>
            </a:extLst>
          </p:cNvPr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62B58-62AE-6351-5BFD-1829C7B7C831}"/>
              </a:ext>
            </a:extLst>
          </p:cNvPr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02 • CODE ORGANIZATION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BFB51-DB68-BAA1-6228-23380F0596FC}"/>
              </a:ext>
            </a:extLst>
          </p:cNvPr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05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88BF675-D7E2-5F6E-EC43-A91C2FD9BE4F}"/>
              </a:ext>
            </a:extLst>
          </p:cNvPr>
          <p:cNvSpPr/>
          <p:nvPr/>
        </p:nvSpPr>
        <p:spPr>
          <a:xfrm>
            <a:off x="685800" y="1143000"/>
            <a:ext cx="5257800" cy="932688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5D286C-A8B7-4C07-8943-37D98C567805}"/>
              </a:ext>
            </a:extLst>
          </p:cNvPr>
          <p:cNvSpPr/>
          <p:nvPr/>
        </p:nvSpPr>
        <p:spPr>
          <a:xfrm>
            <a:off x="685800" y="1143000"/>
            <a:ext cx="64008" cy="932688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C4494-E2C0-8AC8-5150-B160CA398AB3}"/>
              </a:ext>
            </a:extLst>
          </p:cNvPr>
          <p:cNvSpPr txBox="1"/>
          <p:nvPr/>
        </p:nvSpPr>
        <p:spPr>
          <a:xfrm>
            <a:off x="868680" y="1252728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activities/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03A714-4E5A-7109-3ACD-510EAC25882C}"/>
              </a:ext>
            </a:extLst>
          </p:cNvPr>
          <p:cNvSpPr txBox="1"/>
          <p:nvPr/>
        </p:nvSpPr>
        <p:spPr>
          <a:xfrm>
            <a:off x="868680" y="1600200"/>
            <a:ext cx="4910328" cy="402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Screen-level logic and navigation.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0F262E8-3134-A82B-DBEC-948B208D1A15}"/>
              </a:ext>
            </a:extLst>
          </p:cNvPr>
          <p:cNvSpPr/>
          <p:nvPr/>
        </p:nvSpPr>
        <p:spPr>
          <a:xfrm>
            <a:off x="6309360" y="1143000"/>
            <a:ext cx="5257800" cy="932688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55DF1-3B6A-6532-5466-CDCE631803E6}"/>
              </a:ext>
            </a:extLst>
          </p:cNvPr>
          <p:cNvSpPr/>
          <p:nvPr/>
        </p:nvSpPr>
        <p:spPr>
          <a:xfrm>
            <a:off x="6309360" y="1143000"/>
            <a:ext cx="64008" cy="932688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B1974E-67BC-E254-4F92-5DF634023E79}"/>
              </a:ext>
            </a:extLst>
          </p:cNvPr>
          <p:cNvSpPr txBox="1"/>
          <p:nvPr/>
        </p:nvSpPr>
        <p:spPr>
          <a:xfrm>
            <a:off x="6492240" y="1252728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fragments/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49BB5E-637E-7D71-754A-2A3F99C8CACF}"/>
              </a:ext>
            </a:extLst>
          </p:cNvPr>
          <p:cNvSpPr txBox="1"/>
          <p:nvPr/>
        </p:nvSpPr>
        <p:spPr>
          <a:xfrm>
            <a:off x="6492240" y="1600200"/>
            <a:ext cx="4910328" cy="402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Reusable sections hosted inside an Activity.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D29EDD0-5AF5-D66E-F69A-A2418E93A300}"/>
              </a:ext>
            </a:extLst>
          </p:cNvPr>
          <p:cNvSpPr/>
          <p:nvPr/>
        </p:nvSpPr>
        <p:spPr>
          <a:xfrm>
            <a:off x="685800" y="2304288"/>
            <a:ext cx="5257800" cy="932688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71E5D7-FBCB-12A5-6120-C1576B8A92B5}"/>
              </a:ext>
            </a:extLst>
          </p:cNvPr>
          <p:cNvSpPr/>
          <p:nvPr/>
        </p:nvSpPr>
        <p:spPr>
          <a:xfrm>
            <a:off x="685800" y="2304288"/>
            <a:ext cx="64008" cy="932688"/>
          </a:xfrm>
          <a:prstGeom prst="rect">
            <a:avLst/>
          </a:prstGeom>
          <a:solidFill>
            <a:srgbClr val="4B745B"/>
          </a:solidFill>
          <a:ln>
            <a:solidFill>
              <a:srgbClr val="4B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439617-1CF5-A0CA-50D5-F31F9A2B615C}"/>
              </a:ext>
            </a:extLst>
          </p:cNvPr>
          <p:cNvSpPr txBox="1"/>
          <p:nvPr/>
        </p:nvSpPr>
        <p:spPr>
          <a:xfrm>
            <a:off x="868680" y="2414016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models/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AE6916-760E-D71D-198A-1A15AE807D44}"/>
              </a:ext>
            </a:extLst>
          </p:cNvPr>
          <p:cNvSpPr txBox="1"/>
          <p:nvPr/>
        </p:nvSpPr>
        <p:spPr>
          <a:xfrm>
            <a:off x="868680" y="2761488"/>
            <a:ext cx="4910328" cy="402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Java objects representing meals, users, preferences and ratings.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91BDC29-14B0-5C69-7CAA-A60D4DF8619C}"/>
              </a:ext>
            </a:extLst>
          </p:cNvPr>
          <p:cNvSpPr/>
          <p:nvPr/>
        </p:nvSpPr>
        <p:spPr>
          <a:xfrm>
            <a:off x="6309360" y="2304288"/>
            <a:ext cx="5257800" cy="932688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4401E2-5462-A07A-E289-1DE36424AF3D}"/>
              </a:ext>
            </a:extLst>
          </p:cNvPr>
          <p:cNvSpPr/>
          <p:nvPr/>
        </p:nvSpPr>
        <p:spPr>
          <a:xfrm>
            <a:off x="6309360" y="2304288"/>
            <a:ext cx="64008" cy="932688"/>
          </a:xfrm>
          <a:prstGeom prst="rect">
            <a:avLst/>
          </a:prstGeom>
          <a:solidFill>
            <a:srgbClr val="9D4339"/>
          </a:solidFill>
          <a:ln>
            <a:solidFill>
              <a:srgbClr val="9D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C28BAC-FD49-6DBB-B3DB-AC81B77FB97F}"/>
              </a:ext>
            </a:extLst>
          </p:cNvPr>
          <p:cNvSpPr txBox="1"/>
          <p:nvPr/>
        </p:nvSpPr>
        <p:spPr>
          <a:xfrm>
            <a:off x="6492240" y="2414016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adapters/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88B7EC-C68E-E575-DD24-438C67F6C57A}"/>
              </a:ext>
            </a:extLst>
          </p:cNvPr>
          <p:cNvSpPr txBox="1"/>
          <p:nvPr/>
        </p:nvSpPr>
        <p:spPr>
          <a:xfrm>
            <a:off x="6492240" y="2761488"/>
            <a:ext cx="4910328" cy="402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Bind lists of objects to RecyclerView rows/cards.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8803D29-4E37-85C1-AB28-9C326A7AA814}"/>
              </a:ext>
            </a:extLst>
          </p:cNvPr>
          <p:cNvSpPr/>
          <p:nvPr/>
        </p:nvSpPr>
        <p:spPr>
          <a:xfrm>
            <a:off x="685800" y="3465576"/>
            <a:ext cx="5257800" cy="932688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513206-D9CB-61EE-B27C-071C4D5F836A}"/>
              </a:ext>
            </a:extLst>
          </p:cNvPr>
          <p:cNvSpPr/>
          <p:nvPr/>
        </p:nvSpPr>
        <p:spPr>
          <a:xfrm>
            <a:off x="685800" y="3465576"/>
            <a:ext cx="64008" cy="932688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CF525A-6AA9-AEEE-7520-805AA16BC56F}"/>
              </a:ext>
            </a:extLst>
          </p:cNvPr>
          <p:cNvSpPr txBox="1"/>
          <p:nvPr/>
        </p:nvSpPr>
        <p:spPr>
          <a:xfrm>
            <a:off x="868680" y="3575304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repository/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CB0F9E-B10E-2986-55F9-20EAA7882E13}"/>
              </a:ext>
            </a:extLst>
          </p:cNvPr>
          <p:cNvSpPr txBox="1"/>
          <p:nvPr/>
        </p:nvSpPr>
        <p:spPr>
          <a:xfrm>
            <a:off x="868680" y="3922776"/>
            <a:ext cx="4910328" cy="402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Centralize Firestore reads and writes.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A3B043D-AF9F-6457-22FD-41FDAA40C160}"/>
              </a:ext>
            </a:extLst>
          </p:cNvPr>
          <p:cNvSpPr/>
          <p:nvPr/>
        </p:nvSpPr>
        <p:spPr>
          <a:xfrm>
            <a:off x="6309360" y="3465576"/>
            <a:ext cx="5257800" cy="932688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00FD9E-B392-48F4-B998-4A0F5A537A1D}"/>
              </a:ext>
            </a:extLst>
          </p:cNvPr>
          <p:cNvSpPr/>
          <p:nvPr/>
        </p:nvSpPr>
        <p:spPr>
          <a:xfrm>
            <a:off x="6309360" y="3465576"/>
            <a:ext cx="64008" cy="932688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2EEB7F-82DA-F622-A2A7-5F86095EB5C5}"/>
              </a:ext>
            </a:extLst>
          </p:cNvPr>
          <p:cNvSpPr txBox="1"/>
          <p:nvPr/>
        </p:nvSpPr>
        <p:spPr>
          <a:xfrm>
            <a:off x="6492240" y="3575304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viewmodel/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1B583A-3F6E-4325-9977-3DC1745DE05D}"/>
              </a:ext>
            </a:extLst>
          </p:cNvPr>
          <p:cNvSpPr txBox="1"/>
          <p:nvPr/>
        </p:nvSpPr>
        <p:spPr>
          <a:xfrm>
            <a:off x="6492240" y="3922776"/>
            <a:ext cx="4910328" cy="402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Hold screen data and expose observable state.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F5C310F-A0ED-7674-FC3D-E596C3933CAB}"/>
              </a:ext>
            </a:extLst>
          </p:cNvPr>
          <p:cNvSpPr/>
          <p:nvPr/>
        </p:nvSpPr>
        <p:spPr>
          <a:xfrm>
            <a:off x="685800" y="4626864"/>
            <a:ext cx="5257800" cy="932688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6C8FDE-7B70-9773-63BB-63F29997466A}"/>
              </a:ext>
            </a:extLst>
          </p:cNvPr>
          <p:cNvSpPr/>
          <p:nvPr/>
        </p:nvSpPr>
        <p:spPr>
          <a:xfrm>
            <a:off x="685800" y="4626864"/>
            <a:ext cx="64008" cy="932688"/>
          </a:xfrm>
          <a:prstGeom prst="rect">
            <a:avLst/>
          </a:prstGeom>
          <a:solidFill>
            <a:srgbClr val="4B745B"/>
          </a:solidFill>
          <a:ln>
            <a:solidFill>
              <a:srgbClr val="4B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C07D79-A182-BDCD-196B-FF7DCBC171D7}"/>
              </a:ext>
            </a:extLst>
          </p:cNvPr>
          <p:cNvSpPr txBox="1"/>
          <p:nvPr/>
        </p:nvSpPr>
        <p:spPr>
          <a:xfrm>
            <a:off x="868680" y="4736592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recommendation/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77710D-9075-4CC7-54A0-EDA1C98F11E6}"/>
              </a:ext>
            </a:extLst>
          </p:cNvPr>
          <p:cNvSpPr txBox="1"/>
          <p:nvPr/>
        </p:nvSpPr>
        <p:spPr>
          <a:xfrm>
            <a:off x="868680" y="5084064"/>
            <a:ext cx="4910328" cy="402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Keep scoring/filtering rules separate from UI.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1C9D6ED-FD9D-3597-0CF0-2AEB2E2E3CCB}"/>
              </a:ext>
            </a:extLst>
          </p:cNvPr>
          <p:cNvSpPr/>
          <p:nvPr/>
        </p:nvSpPr>
        <p:spPr>
          <a:xfrm>
            <a:off x="6309360" y="4626864"/>
            <a:ext cx="5257800" cy="932688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6C7C79-F582-D6B9-749E-9E2CAAFF4232}"/>
              </a:ext>
            </a:extLst>
          </p:cNvPr>
          <p:cNvSpPr/>
          <p:nvPr/>
        </p:nvSpPr>
        <p:spPr>
          <a:xfrm>
            <a:off x="6309360" y="4626864"/>
            <a:ext cx="64008" cy="932688"/>
          </a:xfrm>
          <a:prstGeom prst="rect">
            <a:avLst/>
          </a:prstGeom>
          <a:solidFill>
            <a:srgbClr val="9D4339"/>
          </a:solidFill>
          <a:ln>
            <a:solidFill>
              <a:srgbClr val="9D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46A3F6-75B4-8BBC-F0E1-166FBD8C8CA9}"/>
              </a:ext>
            </a:extLst>
          </p:cNvPr>
          <p:cNvSpPr txBox="1"/>
          <p:nvPr/>
        </p:nvSpPr>
        <p:spPr>
          <a:xfrm>
            <a:off x="6492240" y="4736592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utils/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EF10FA-1AE8-165E-A1FF-3AA8E078D4AA}"/>
              </a:ext>
            </a:extLst>
          </p:cNvPr>
          <p:cNvSpPr txBox="1"/>
          <p:nvPr/>
        </p:nvSpPr>
        <p:spPr>
          <a:xfrm>
            <a:off x="6492240" y="5084064"/>
            <a:ext cx="4910328" cy="402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Shared constants, Firebase helpers and demo-data setup.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348282-0CB5-B324-81A9-9676292DD048}"/>
              </a:ext>
            </a:extLst>
          </p:cNvPr>
          <p:cNvSpPr txBox="1"/>
          <p:nvPr/>
        </p:nvSpPr>
        <p:spPr>
          <a:xfrm>
            <a:off x="749808" y="5989320"/>
            <a:ext cx="106070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Benefit: easier debugging, reuse, testing and maintenance; one class can change without rewriting the whole app.</a:t>
            </a:r>
          </a:p>
        </p:txBody>
      </p:sp>
    </p:spTree>
    <p:extLst>
      <p:ext uri="{BB962C8B-B14F-4D97-AF65-F5344CB8AC3E}">
        <p14:creationId xmlns:p14="http://schemas.microsoft.com/office/powerpoint/2010/main" val="693666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Activities folder: screen controllers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02 • FILE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9728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62320"/>
                </a:solidFill>
                <a:latin typeface="Aptos"/>
              </a:defRPr>
            </a:pPr>
            <a:r>
              <a:t>Activities manage a full screen, connect XML views to Java, react to taps, and navigate to other screens.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423160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SplashActivity.java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783080"/>
            <a:ext cx="77724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App entry point; checks current Firebase user after splash delay.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2423160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LoginActivity.java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350008"/>
            <a:ext cx="77724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Email/password login and password reset.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16936"/>
            <a:ext cx="2423160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SignupActivity.java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916936"/>
            <a:ext cx="77724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Creates Firebase account and writes profile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83863"/>
            <a:ext cx="2423160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MainActivity.java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483863"/>
            <a:ext cx="77724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Hosts bottom navigation and student fragments.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50791"/>
            <a:ext cx="2423160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PreferenceActivity.java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050791"/>
            <a:ext cx="77724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Collects and saves food preferences.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2423160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MealDetailActivity.java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617720"/>
            <a:ext cx="77724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Reads and displays a selected meal.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84648"/>
            <a:ext cx="2423160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RateMealActivity.java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5184648"/>
            <a:ext cx="77724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Collects and saves a student's feedback.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97880"/>
            <a:ext cx="105156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696158"/>
                </a:solidFill>
                <a:latin typeface="Aptos"/>
              </a:defRPr>
            </a:pPr>
            <a:r>
              <a:t>Activity lifecycle entry point: onCreate() → setContentView() → findViewById() → listeners.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Fragments folder: sections inside the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02 • FILE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2743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HomeFragment.java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143000"/>
            <a:ext cx="74066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Greeting, special meal and home shortcuts.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09928"/>
            <a:ext cx="2743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MenuFragment.java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709928"/>
            <a:ext cx="74066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Loads available meals by category.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76856"/>
            <a:ext cx="2743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RecommendationFragment.java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76856"/>
            <a:ext cx="74066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Loads and ranks candidate meals for the recommendation screen.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43784"/>
            <a:ext cx="2743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ProfileFragment.java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43784"/>
            <a:ext cx="74066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Displays profile and handles logout/preferences navigation.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10712"/>
            <a:ext cx="2743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AdminHomeFragment.java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410712"/>
            <a:ext cx="74066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Dashboard summary and shortcuts in the current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2743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ManageMenuFragment.java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977639"/>
            <a:ext cx="74066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Selects meals and saves date-specific menu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44568"/>
            <a:ext cx="27432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AnalyticsFragment.java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544568"/>
            <a:ext cx="74066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Summarizes rating distribution.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Models folder: the shape of app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02 • FILE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6583680" cy="7315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64008" cy="731520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252728"/>
            <a:ext cx="62636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Meal.java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623620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One meal: ID, name, category, description, food type, spice, price/rating and availability.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57400"/>
            <a:ext cx="6583680" cy="7315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057400"/>
            <a:ext cx="64008" cy="731520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62636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Preference.java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623620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User food preferences and lists such as favourite/disliked foods.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6583680" cy="7315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64008" cy="731520"/>
          </a:xfrm>
          <a:prstGeom prst="rect">
            <a:avLst/>
          </a:prstGeom>
          <a:solidFill>
            <a:srgbClr val="4B745B"/>
          </a:solidFill>
          <a:ln>
            <a:solidFill>
              <a:srgbClr val="4B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081528"/>
            <a:ext cx="62636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Rating.java / MealRating.java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623620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Feedback data: meal/user references, scores, comment and timestamp.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6583680" cy="7315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886200"/>
            <a:ext cx="64008" cy="731520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995928"/>
            <a:ext cx="62636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User.java / UserProfile.java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623620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Account/profile fields; separate classes used in different code paths.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00600"/>
            <a:ext cx="6583680" cy="7315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800600"/>
            <a:ext cx="64008" cy="731520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910328"/>
            <a:ext cx="62636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Recommendation.java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623620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A Meal plus score and explanation.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Models do not draw the UI; they carry structured values between Firestore, repositories, adapters and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Adapters and ViewHolder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03 •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20640" cy="123444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1234440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44168"/>
            <a:ext cx="48006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RecyclerView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4773168" cy="7040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Efficiently displays scrollable lists by reusing row views instead of creating every row from scratch.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234440"/>
            <a:ext cx="5120640" cy="123444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64008" cy="1234440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344168"/>
            <a:ext cx="48006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Adapter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4773168" cy="7040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Connects each data object to a row layout and binds values to the row's 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760720" cy="228600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2944368"/>
            <a:ext cx="5486400" cy="2103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t>@Override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t>public void onBindViewHolder(ViewHolder holder, int position) {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t>    Meal meal = meals.get(position);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t>    holder.name.setText(meal.getName());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t>    holder.rating.setText(String.valueOf(meal.getRating()));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926080"/>
            <a:ext cx="4114800" cy="9144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262320"/>
                </a:solidFill>
                <a:latin typeface="Aptos"/>
              </a:defRPr>
            </a:pPr>
            <a:r>
              <a:t>ViewHolder stores references to the row's views. The adapter reuses holders as items scroll on and off screen.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886200"/>
            <a:ext cx="4206240" cy="1554480"/>
          </a:xfrm>
          <a:prstGeom prst="rect">
            <a:avLst/>
          </a:prstGeom>
          <a:noFill/>
        </p:spPr>
        <p:txBody>
          <a:bodyPr wrap="square" lIns="54864" t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MealAdapter → item_meal.xml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RecommendationAdapter → item_recommendation.xml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FeedbackAdapter → item_feedback.xml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getItemCount() returns the number of displayed objects.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Other Android components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03 •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520440" cy="117043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64008" cy="117043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252728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Activity / Fragment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3172968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Screen and reusable screen-section lifecycle.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143000"/>
            <a:ext cx="3520440" cy="117043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143000"/>
            <a:ext cx="64008" cy="1170432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252728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Intent + extras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600200"/>
            <a:ext cx="3172968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Navigate and pass values such as mealId and mealName.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143000"/>
            <a:ext cx="3520440" cy="117043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143000"/>
            <a:ext cx="64008" cy="1170432"/>
          </a:xfrm>
          <a:prstGeom prst="rect">
            <a:avLst/>
          </a:prstGeom>
          <a:solidFill>
            <a:srgbClr val="4B745B"/>
          </a:solidFill>
          <a:ln>
            <a:solidFill>
              <a:srgbClr val="4B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252728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EditText / TextView / Button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600200"/>
            <a:ext cx="3172968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Input, display and trigger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560320"/>
            <a:ext cx="3520440" cy="117043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560320"/>
            <a:ext cx="64008" cy="117043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2670048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RadioGroup / CheckBox / Switch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017520"/>
            <a:ext cx="3172968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Collect exclusive choices, multiple selections and on/off states.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560320"/>
            <a:ext cx="3520440" cy="117043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2560320"/>
            <a:ext cx="64008" cy="1170432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2670048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Toast / setError()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017520"/>
            <a:ext cx="3172968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Show short messages and field-level validation.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560320"/>
            <a:ext cx="3520440" cy="117043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75320" y="2560320"/>
            <a:ext cx="64008" cy="1170432"/>
          </a:xfrm>
          <a:prstGeom prst="rect">
            <a:avLst/>
          </a:prstGeom>
          <a:solidFill>
            <a:srgbClr val="4B745B"/>
          </a:solidFill>
          <a:ln>
            <a:solidFill>
              <a:srgbClr val="4B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2670048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AlertDialog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017520"/>
            <a:ext cx="3172968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Display selectable meal choices in a dialog.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977639"/>
            <a:ext cx="3520440" cy="117043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3977639"/>
            <a:ext cx="64008" cy="117043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087368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Handler + Looper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434840"/>
            <a:ext cx="3172968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Schedule the splash navigation after a delay.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3977639"/>
            <a:ext cx="3520440" cy="117043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80560" y="3977639"/>
            <a:ext cx="64008" cy="1170432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63440" y="4087368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LiveData / ViewModel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434840"/>
            <a:ext cx="3172968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Expose screen state and data updates.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3977639"/>
            <a:ext cx="3520440" cy="117043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75320" y="3977639"/>
            <a:ext cx="64008" cy="1170432"/>
          </a:xfrm>
          <a:prstGeom prst="rect">
            <a:avLst/>
          </a:prstGeom>
          <a:solidFill>
            <a:srgbClr val="4B745B"/>
          </a:solidFill>
          <a:ln>
            <a:solidFill>
              <a:srgbClr val="4B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58200" y="4087368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Callback / lambda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434840"/>
            <a:ext cx="3172968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Handle asynchronous completion and UI events.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The XML resource IDs (R.id...) are the bridge between Java code and the views defined in layout XML.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Firebase, Glide and data libraries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03 •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520440" cy="14173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1417320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44168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Firebase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3172968" cy="8869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Creates accounts, signs in/out and requests password-reset emails.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20440" cy="14173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64008" cy="1417320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344168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Cloud Firestore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3172968" cy="8869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Stores and queries user, meal, preference, rating and daily-menu documents.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34440"/>
            <a:ext cx="3520440" cy="14173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234440"/>
            <a:ext cx="64008" cy="1417320"/>
          </a:xfrm>
          <a:prstGeom prst="rect">
            <a:avLst/>
          </a:prstGeom>
          <a:solidFill>
            <a:srgbClr val="4B745B"/>
          </a:solidFill>
          <a:ln>
            <a:solidFill>
              <a:srgbClr val="4B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1344168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Glide — image loading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691640"/>
            <a:ext cx="3172968" cy="8869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96158"/>
                </a:solidFill>
                <a:latin typeface="Aptos"/>
              </a:defRPr>
            </a:pPr>
            <a:r>
              <a:t>If configured in a screen, loads remote image URLs into ImageViews and handles caching/recycling. Verify actual usage in source before presenting as implemented.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63240"/>
            <a:ext cx="32004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262320"/>
                </a:solidFill>
                <a:latin typeface="Aptos"/>
              </a:defRPr>
            </a:pPr>
            <a:r>
              <a:t>Other important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20440"/>
            <a:ext cx="6400800" cy="2240280"/>
          </a:xfrm>
          <a:prstGeom prst="rect">
            <a:avLst/>
          </a:prstGeom>
          <a:noFill/>
        </p:spPr>
        <p:txBody>
          <a:bodyPr wrap="square" lIns="54864" t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FirebaseFirestore.getInstance() — obtain Firestore client.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FirebaseAuth.getInstance() — obtain auth client.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Query / DocumentSnapshot — read collections and document fields.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addOnSuccessListener / addOnFailureListener — handle async results.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ArrayAdapter — turn choices into dropdown/dialog rows.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SimpleDateFormat / Date — format dates and timestamps.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Code pattern: Activity creation and navigation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03 •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852160" cy="324612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1732789"/>
            <a:ext cx="5577840" cy="306323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@Override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protected void </a:t>
            </a:r>
            <a:r>
              <a:rPr dirty="0" err="1"/>
              <a:t>onCreate</a:t>
            </a:r>
            <a:r>
              <a:rPr dirty="0"/>
              <a:t>(Bundle </a:t>
            </a:r>
            <a:r>
              <a:rPr dirty="0" err="1"/>
              <a:t>savedInstanceState</a:t>
            </a:r>
            <a:r>
              <a:rPr dirty="0"/>
              <a:t>) {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super.onCreate</a:t>
            </a:r>
            <a:r>
              <a:rPr dirty="0"/>
              <a:t>(</a:t>
            </a:r>
            <a:r>
              <a:rPr dirty="0" err="1"/>
              <a:t>savedInstanceState</a:t>
            </a:r>
            <a:r>
              <a:rPr dirty="0"/>
              <a:t>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setContentView</a:t>
            </a:r>
            <a:r>
              <a:rPr dirty="0"/>
              <a:t>(</a:t>
            </a:r>
            <a:r>
              <a:rPr dirty="0" err="1"/>
              <a:t>R.layout.activity_login</a:t>
            </a:r>
            <a:r>
              <a:rPr dirty="0"/>
              <a:t>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    email = </a:t>
            </a:r>
            <a:r>
              <a:rPr dirty="0" err="1"/>
              <a:t>findViewById</a:t>
            </a:r>
            <a:r>
              <a:rPr dirty="0"/>
              <a:t>(</a:t>
            </a:r>
            <a:r>
              <a:rPr dirty="0" err="1"/>
              <a:t>R.id.edtEmail</a:t>
            </a:r>
            <a:r>
              <a:rPr dirty="0"/>
              <a:t>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    login = </a:t>
            </a:r>
            <a:r>
              <a:rPr dirty="0" err="1"/>
              <a:t>findViewById</a:t>
            </a:r>
            <a:r>
              <a:rPr dirty="0"/>
              <a:t>(</a:t>
            </a:r>
            <a:r>
              <a:rPr dirty="0" err="1"/>
              <a:t>R.id.btnLogin</a:t>
            </a:r>
            <a:r>
              <a:rPr dirty="0"/>
              <a:t>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login.setOnClickListener</a:t>
            </a:r>
            <a:r>
              <a:rPr dirty="0"/>
              <a:t>(v -&gt; </a:t>
            </a:r>
            <a:r>
              <a:rPr dirty="0" err="1"/>
              <a:t>signIn</a:t>
            </a:r>
            <a:r>
              <a:rPr dirty="0"/>
              <a:t>());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847088"/>
            <a:ext cx="4206240" cy="2834640"/>
          </a:xfrm>
          <a:prstGeom prst="rect">
            <a:avLst/>
          </a:prstGeom>
          <a:noFill/>
        </p:spPr>
        <p:txBody>
          <a:bodyPr wrap="square" lIns="54864" t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62320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onCreate</a:t>
            </a:r>
            <a:r>
              <a:rPr dirty="0"/>
              <a:t>() is called as Android creates the screen.</a:t>
            </a:r>
          </a:p>
          <a:p>
            <a:pPr>
              <a:spcAft>
                <a:spcPts val="600"/>
              </a:spcAft>
              <a:defRPr sz="1300">
                <a:solidFill>
                  <a:srgbClr val="262320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setContentView</a:t>
            </a:r>
            <a:r>
              <a:rPr dirty="0"/>
              <a:t>() inflates the XML layout for the Activity.</a:t>
            </a:r>
          </a:p>
          <a:p>
            <a:pPr>
              <a:spcAft>
                <a:spcPts val="600"/>
              </a:spcAft>
              <a:defRPr sz="1300">
                <a:solidFill>
                  <a:srgbClr val="262320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findViewById</a:t>
            </a:r>
            <a:r>
              <a:rPr dirty="0"/>
              <a:t>() connects Java variables to XML IDs.</a:t>
            </a:r>
          </a:p>
          <a:p>
            <a:pPr>
              <a:spcAft>
                <a:spcPts val="600"/>
              </a:spcAft>
              <a:defRPr sz="1300">
                <a:solidFill>
                  <a:srgbClr val="262320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setOnClickListener</a:t>
            </a:r>
            <a:r>
              <a:rPr dirty="0"/>
              <a:t>() registers an event callback.</a:t>
            </a:r>
          </a:p>
          <a:p>
            <a:pPr>
              <a:spcAft>
                <a:spcPts val="600"/>
              </a:spcAft>
              <a:defRPr sz="1300">
                <a:solidFill>
                  <a:srgbClr val="262320"/>
                </a:solidFill>
                <a:latin typeface="Aptos"/>
              </a:defRPr>
            </a:pPr>
            <a:r>
              <a:rPr dirty="0"/>
              <a:t>• Intent + </a:t>
            </a:r>
            <a:r>
              <a:rPr dirty="0" err="1"/>
              <a:t>startActivity</a:t>
            </a:r>
            <a:r>
              <a:rPr dirty="0"/>
              <a:t>() opens another Activity.</a:t>
            </a:r>
          </a:p>
          <a:p>
            <a:pPr>
              <a:spcAft>
                <a:spcPts val="600"/>
              </a:spcAft>
              <a:defRPr sz="1300">
                <a:solidFill>
                  <a:srgbClr val="262320"/>
                </a:solidFill>
                <a:latin typeface="Aptos"/>
              </a:defRPr>
            </a:pPr>
            <a:r>
              <a:rPr dirty="0"/>
              <a:t>• finish() removes the current Activity from the back stack.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App working: high-level student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04 • APP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965960" cy="107899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057400"/>
            <a:ext cx="1819656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SplashActivity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432304"/>
            <a:ext cx="1819656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1.8-second splash + auth check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78024" y="2395728"/>
            <a:ext cx="292608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52928" y="1874519"/>
            <a:ext cx="1965960" cy="107899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057400"/>
            <a:ext cx="1819656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LoginActivity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432304"/>
            <a:ext cx="1819656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Sign in or go to signup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28032" y="2395728"/>
            <a:ext cx="292608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02936" y="1874519"/>
            <a:ext cx="1965960" cy="107899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6088" y="2057400"/>
            <a:ext cx="1819656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SignupActivity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432304"/>
            <a:ext cx="1819656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Create account + profile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78040" y="2395728"/>
            <a:ext cx="292608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52944" y="1874519"/>
            <a:ext cx="1965960" cy="107899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26096" y="2057400"/>
            <a:ext cx="1819656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PreferenceActivity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432304"/>
            <a:ext cx="1819656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Save preferences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8048" y="2395728"/>
            <a:ext cx="292608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902952" y="1874519"/>
            <a:ext cx="1965960" cy="1078992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76104" y="2057400"/>
            <a:ext cx="1819656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MainActivity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6104" y="2432304"/>
            <a:ext cx="1819656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Home / Menu / For You / 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5760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262320"/>
                </a:solidFill>
                <a:latin typeface="Aptos"/>
              </a:defRPr>
            </a:pPr>
            <a:r>
              <a:t>Returning user: SplashActivity checks FirebaseAuth.getCurrentUser(); if non-null, it opens MainActivity directly.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Start of app: SplashActivity → LoginActivity or MainActivity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04 • APP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6583680" cy="292608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1344168"/>
            <a:ext cx="6309360" cy="2743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DataSeeder.seedInitialDataIfEmpty();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new Handler(Looper.getMainLooper()).postDelayed(() -&gt; {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Class&lt;?&gt; next = FirebaseAuth.getInstance().getCurrentUser() == null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        ? LoginActivity.class : MainActivity.class;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startActivity(new Intent(this, next));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finish();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}, 1800);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417320"/>
            <a:ext cx="3749039" cy="2743200"/>
          </a:xfrm>
          <a:prstGeom prst="rect">
            <a:avLst/>
          </a:prstGeom>
          <a:noFill/>
        </p:spPr>
        <p:txBody>
          <a:bodyPr wrap="square" lIns="54864" t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Seeds sample data if the meals collection is empty.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Waits 1,800 ms on the main thread's message queue.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Checks whether Firebase has a signed-in user.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No current user → LoginActivity.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Existing signed-in user → MainActivity.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finish() prevents Back from returning to splash.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AD583D"/>
                </a:solidFill>
                <a:latin typeface="Aptos"/>
              </a:defRPr>
            </a:pPr>
            <a:r>
              <a:t>Why: the app has one entry point and routes the user based on current authentication state.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Login: how credentials reach Firebase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04 • APP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6537960" cy="306324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4882" y="1909267"/>
            <a:ext cx="6263640" cy="2880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auth.signInWithEmailAndPassword(e, p)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.addOnCompleteListener(task -&gt; {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    login.setEnabled(true);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    if (task.isSuccessful()) {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        startActivity(new Intent(this, MainActivity.class));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        finish();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    } else {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        Toast.makeText(this, "Login failed", Toast.LENGTH_SHORT).show();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81251"/>
            <a:ext cx="3749039" cy="2560320"/>
          </a:xfrm>
          <a:prstGeom prst="rect">
            <a:avLst/>
          </a:prstGeom>
          <a:noFill/>
        </p:spPr>
        <p:txBody>
          <a:bodyPr wrap="square" lIns="54864" t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Read and trim email; read password.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Reject empty fields before network call.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Firebase verifies email/password asynchronously.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Success → </a:t>
            </a:r>
            <a:r>
              <a:rPr dirty="0" err="1"/>
              <a:t>MainActivity</a:t>
            </a:r>
            <a:r>
              <a:rPr dirty="0"/>
              <a:t>; failure → message.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Sign-up link → </a:t>
            </a:r>
            <a:r>
              <a:rPr dirty="0" err="1"/>
              <a:t>SignupActivity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Forgot password → </a:t>
            </a:r>
            <a:r>
              <a:rPr dirty="0" err="1"/>
              <a:t>sendPasswordResetEmail</a:t>
            </a:r>
            <a:r>
              <a:rPr dirty="0"/>
              <a:t>().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Signup and preferences: what is stored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04 • APP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4937760" cy="118872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1344168"/>
            <a:ext cx="466344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EFE2CD"/>
                </a:solidFill>
                <a:latin typeface="Consolas"/>
              </a:defRPr>
            </a:pPr>
            <a:r>
              <a:t>String uid = auth.getCurrentUser().getUid();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EFE2CD"/>
                </a:solidFill>
                <a:latin typeface="Consolas"/>
              </a:defRPr>
            </a:pPr>
            <a:r>
              <a:t>db.collection("users").document(uid).set(data);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234440"/>
            <a:ext cx="5257800" cy="11887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97880" y="1234440"/>
            <a:ext cx="64008" cy="1188720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44168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SignupActivity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4910328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Creates Authentication account, gets UID and writes profile fields into users/{uid}.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4937760" cy="118872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" y="2898648"/>
            <a:ext cx="466344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EFE2CD"/>
                </a:solidFill>
                <a:latin typeface="Consolas"/>
              </a:defRPr>
            </a:pPr>
            <a:r>
              <a:t>db.collection("users").document(uid)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EFE2CD"/>
                </a:solidFill>
                <a:latin typeface="Consolas"/>
              </a:defRPr>
            </a:pPr>
            <a:r>
              <a:t>    .set(data, SetOptions.merge());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2788920"/>
            <a:ext cx="5257800" cy="11887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97880" y="2788920"/>
            <a:ext cx="64008" cy="1188720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0760" y="2898648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PreferenceActivity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246120"/>
            <a:ext cx="4910328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Writes food type, spice level, favourite/disliked foods and cuisine selections; merge preserves existing fields.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3468" y="4569257"/>
            <a:ext cx="105156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9D4339"/>
                </a:solidFill>
                <a:latin typeface="Aptos"/>
              </a:defRPr>
            </a:pPr>
            <a:r>
              <a:rPr dirty="0"/>
              <a:t>Important: Authentication and </a:t>
            </a:r>
            <a:r>
              <a:rPr dirty="0" err="1"/>
              <a:t>Firestore</a:t>
            </a:r>
            <a:r>
              <a:rPr dirty="0"/>
              <a:t> are separate operations. An account may exist even if saving the profile fails.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MainActivity: how bottom navigation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04 • APP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2126894"/>
            <a:ext cx="6629400" cy="329184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980030"/>
            <a:ext cx="6355080" cy="3108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if (id == </a:t>
            </a:r>
            <a:r>
              <a:rPr dirty="0" err="1"/>
              <a:t>R.id.nav_home</a:t>
            </a:r>
            <a:r>
              <a:rPr dirty="0"/>
              <a:t>) fragment = new </a:t>
            </a:r>
            <a:r>
              <a:rPr dirty="0" err="1"/>
              <a:t>HomeFragment</a:t>
            </a:r>
            <a:r>
              <a:rPr dirty="0"/>
              <a:t>();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else if (id == </a:t>
            </a:r>
            <a:r>
              <a:rPr dirty="0" err="1"/>
              <a:t>R.id.nav_menu</a:t>
            </a:r>
            <a:r>
              <a:rPr dirty="0"/>
              <a:t>) fragment = new </a:t>
            </a:r>
            <a:r>
              <a:rPr dirty="0" err="1"/>
              <a:t>MenuFragment</a:t>
            </a:r>
            <a:r>
              <a:rPr dirty="0"/>
              <a:t>();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else if (id == </a:t>
            </a:r>
            <a:r>
              <a:rPr dirty="0" err="1"/>
              <a:t>R.id.nav_recommendation</a:t>
            </a:r>
            <a:r>
              <a:rPr dirty="0"/>
              <a:t>) fragment = new </a:t>
            </a:r>
            <a:r>
              <a:rPr dirty="0" err="1"/>
              <a:t>RecommendationFragment</a:t>
            </a:r>
            <a:r>
              <a:rPr dirty="0"/>
              <a:t>();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else if (id == </a:t>
            </a:r>
            <a:r>
              <a:rPr dirty="0" err="1"/>
              <a:t>R.id.nav_profile</a:t>
            </a:r>
            <a:r>
              <a:rPr dirty="0"/>
              <a:t>) fragment = new </a:t>
            </a:r>
            <a:r>
              <a:rPr dirty="0" err="1"/>
              <a:t>ProfileFragment</a:t>
            </a:r>
            <a:r>
              <a:rPr dirty="0"/>
              <a:t>();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EFE2CD"/>
                </a:solidFill>
                <a:latin typeface="Consolas"/>
              </a:defRPr>
            </a:pPr>
            <a:r>
              <a:rPr dirty="0" err="1"/>
              <a:t>getSupportFragmentManager</a:t>
            </a:r>
            <a:r>
              <a:rPr dirty="0"/>
              <a:t>().</a:t>
            </a:r>
            <a:r>
              <a:rPr dirty="0" err="1"/>
              <a:t>beginTransaction</a:t>
            </a:r>
            <a:r>
              <a:rPr dirty="0"/>
              <a:t>()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    .replace(</a:t>
            </a:r>
            <a:r>
              <a:rPr dirty="0" err="1"/>
              <a:t>R.id.mainFragmentContainer</a:t>
            </a:r>
            <a:r>
              <a:rPr dirty="0"/>
              <a:t>, fragment).commit();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697480"/>
            <a:ext cx="3657600" cy="2377440"/>
          </a:xfrm>
          <a:prstGeom prst="rect">
            <a:avLst/>
          </a:prstGeom>
          <a:noFill/>
        </p:spPr>
        <p:txBody>
          <a:bodyPr wrap="square" lIns="54864" t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BottomNavigationView</a:t>
            </a:r>
            <a:r>
              <a:rPr dirty="0"/>
              <a:t> emits the selected menu item ID.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MainActivity</a:t>
            </a:r>
            <a:r>
              <a:rPr dirty="0"/>
              <a:t> maps each ID to a Fragment object.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FragmentManager</a:t>
            </a:r>
            <a:r>
              <a:rPr dirty="0"/>
              <a:t> starts a transaction.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replace() changes content inside </a:t>
            </a:r>
            <a:r>
              <a:rPr dirty="0" err="1"/>
              <a:t>mainFragmentContainer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commit() applies the transaction.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From MenuFragment to MealDetailActivity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04 • APP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423160" cy="100584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224028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AD583D"/>
                </a:solidFill>
                <a:latin typeface="Aptos"/>
              </a:defRPr>
            </a:pPr>
            <a:r>
              <a:t>MenuFragment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29968"/>
            <a:ext cx="22402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Query available meals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26664" y="1993392"/>
            <a:ext cx="356615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508760"/>
            <a:ext cx="2423160" cy="100584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691640"/>
            <a:ext cx="224028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AD583D"/>
                </a:solidFill>
                <a:latin typeface="Aptos"/>
              </a:defRPr>
            </a:pPr>
            <a:r>
              <a:t>Intent extras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29968"/>
            <a:ext cx="22402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mealId + mealName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07024" y="1993392"/>
            <a:ext cx="356616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1508760"/>
            <a:ext cx="2423160" cy="100584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40"/>
            <a:ext cx="224028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AD583D"/>
                </a:solidFill>
                <a:latin typeface="Aptos"/>
              </a:defRPr>
            </a:pPr>
            <a:r>
              <a:t>MealDetailActivity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29968"/>
            <a:ext cx="22402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Read meals/{mealId}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87384" y="1993392"/>
            <a:ext cx="356616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35440" y="1508760"/>
            <a:ext cx="2423160" cy="100584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691640"/>
            <a:ext cx="224028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AD583D"/>
                </a:solidFill>
                <a:latin typeface="Aptos"/>
              </a:defRPr>
            </a:pPr>
            <a:r>
              <a:t>RateMealActivity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029968"/>
            <a:ext cx="22402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Receive mealId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63240"/>
            <a:ext cx="4754880" cy="150876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691" y="3429000"/>
            <a:ext cx="4480560" cy="1325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EFE2CD"/>
                </a:solidFill>
                <a:latin typeface="Consolas"/>
              </a:defRPr>
            </a:pPr>
            <a:r>
              <a:rPr dirty="0" err="1"/>
              <a:t>intent.putExtra</a:t>
            </a:r>
            <a:r>
              <a:rPr dirty="0"/>
              <a:t>("</a:t>
            </a:r>
            <a:r>
              <a:rPr dirty="0" err="1"/>
              <a:t>mealId</a:t>
            </a:r>
            <a:r>
              <a:rPr dirty="0"/>
              <a:t>", </a:t>
            </a:r>
            <a:r>
              <a:rPr dirty="0" err="1"/>
              <a:t>mealId</a:t>
            </a:r>
            <a:r>
              <a:rPr dirty="0"/>
              <a:t>);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EFE2CD"/>
                </a:solidFill>
                <a:latin typeface="Consolas"/>
              </a:defRPr>
            </a:pPr>
            <a:r>
              <a:rPr dirty="0" err="1"/>
              <a:t>intent.putExtra</a:t>
            </a:r>
            <a:r>
              <a:rPr dirty="0"/>
              <a:t>("</a:t>
            </a:r>
            <a:r>
              <a:rPr dirty="0" err="1"/>
              <a:t>mealName</a:t>
            </a:r>
            <a:r>
              <a:rPr dirty="0"/>
              <a:t>", </a:t>
            </a:r>
            <a:r>
              <a:rPr dirty="0" err="1"/>
              <a:t>mealName</a:t>
            </a:r>
            <a:r>
              <a:rPr dirty="0"/>
              <a:t>);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EFE2CD"/>
                </a:solidFill>
                <a:latin typeface="Consolas"/>
              </a:defRPr>
            </a:pPr>
            <a:r>
              <a:rPr dirty="0" err="1"/>
              <a:t>startActivity</a:t>
            </a:r>
            <a:r>
              <a:rPr dirty="0"/>
              <a:t>(intent);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154680"/>
            <a:ext cx="4754880" cy="1645920"/>
          </a:xfrm>
          <a:prstGeom prst="rect">
            <a:avLst/>
          </a:prstGeom>
          <a:noFill/>
        </p:spPr>
        <p:txBody>
          <a:bodyPr wrap="square" lIns="54864" t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The meal ID is the stable reference to a Firestore document.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MealDetailActivity can show passed name immediately, then fetch full details.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The rate button passes the same meal ID to RateMealActivity.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This connects feedback to the correct meal.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Rating workflow: app → Firestore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04 • APP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" y="2095804"/>
            <a:ext cx="6400800" cy="274320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" y="2606040"/>
            <a:ext cx="612648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rPr dirty="0" err="1"/>
              <a:t>data.put</a:t>
            </a:r>
            <a:r>
              <a:rPr dirty="0"/>
              <a:t>("</a:t>
            </a:r>
            <a:r>
              <a:rPr dirty="0" err="1"/>
              <a:t>mealId</a:t>
            </a:r>
            <a:r>
              <a:rPr dirty="0"/>
              <a:t>", </a:t>
            </a:r>
            <a:r>
              <a:rPr dirty="0" err="1"/>
              <a:t>mealId</a:t>
            </a:r>
            <a:r>
              <a:rPr dirty="0"/>
              <a:t>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rPr dirty="0" err="1"/>
              <a:t>data.put</a:t>
            </a:r>
            <a:r>
              <a:rPr dirty="0"/>
              <a:t>("</a:t>
            </a:r>
            <a:r>
              <a:rPr dirty="0" err="1"/>
              <a:t>userId</a:t>
            </a:r>
            <a:r>
              <a:rPr dirty="0"/>
              <a:t>", </a:t>
            </a:r>
            <a:r>
              <a:rPr dirty="0" err="1"/>
              <a:t>FirebaseAuth.getInstance</a:t>
            </a:r>
            <a:r>
              <a:rPr dirty="0"/>
              <a:t>().</a:t>
            </a:r>
            <a:r>
              <a:rPr dirty="0" err="1"/>
              <a:t>getCurrentUser</a:t>
            </a:r>
            <a:r>
              <a:rPr dirty="0"/>
              <a:t>().</a:t>
            </a:r>
            <a:r>
              <a:rPr dirty="0" err="1"/>
              <a:t>getUid</a:t>
            </a:r>
            <a:r>
              <a:rPr dirty="0"/>
              <a:t>());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rPr dirty="0" err="1"/>
              <a:t>data.put</a:t>
            </a:r>
            <a:r>
              <a:rPr dirty="0"/>
              <a:t>("rating", (double) stars);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rPr dirty="0" err="1"/>
              <a:t>data.put</a:t>
            </a:r>
            <a:r>
              <a:rPr dirty="0"/>
              <a:t>("comment", feedback);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rPr dirty="0" err="1"/>
              <a:t>data.put</a:t>
            </a:r>
            <a:r>
              <a:rPr dirty="0"/>
              <a:t>("</a:t>
            </a:r>
            <a:r>
              <a:rPr dirty="0" err="1"/>
              <a:t>createdAt</a:t>
            </a:r>
            <a:r>
              <a:rPr dirty="0"/>
              <a:t>", </a:t>
            </a:r>
            <a:r>
              <a:rPr dirty="0" err="1"/>
              <a:t>System.currentTimeMillis</a:t>
            </a:r>
            <a:r>
              <a:rPr dirty="0"/>
              <a:t>());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rPr dirty="0" err="1"/>
              <a:t>FirebaseFirestore.getInstance</a:t>
            </a:r>
            <a:r>
              <a:rPr dirty="0"/>
              <a:t>().collection("ratings").add(data);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443276"/>
            <a:ext cx="3840480" cy="2286000"/>
          </a:xfrm>
          <a:prstGeom prst="rect">
            <a:avLst/>
          </a:prstGeom>
          <a:noFill/>
        </p:spPr>
        <p:txBody>
          <a:bodyPr wrap="square" lIns="54864" t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RatingBar</a:t>
            </a:r>
            <a:r>
              <a:rPr dirty="0"/>
              <a:t> supplies overall stars.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SeekBars</a:t>
            </a:r>
            <a:r>
              <a:rPr dirty="0"/>
              <a:t> supply taste/quality/quantity values.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Map&lt;</a:t>
            </a:r>
            <a:r>
              <a:rPr dirty="0" err="1"/>
              <a:t>String,Object</a:t>
            </a:r>
            <a:r>
              <a:rPr dirty="0"/>
              <a:t>&gt; represents document fields.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add(data) creates a rating document with an automatic ID.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Success/failure callbacks update the UI.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212079"/>
            <a:ext cx="393192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Recommendation engine: what it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05 • 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0704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AD583D"/>
                </a:solidFill>
                <a:latin typeface="Aptos"/>
              </a:defRPr>
            </a:pPr>
            <a:r>
              <a:t>RecommendationEngine.java is a rule-based scoring algorithm, not a trained machine-learning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29000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64008" cy="1143000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081528" cy="6126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Available meals + food type + spice level + favourites + dislikes.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64008" cy="1143000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984248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3081528" cy="6126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Skip unavailable/null meals and exclude disliked text matches.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429000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874519"/>
            <a:ext cx="64008" cy="1143000"/>
          </a:xfrm>
          <a:prstGeom prst="rect">
            <a:avLst/>
          </a:prstGeom>
          <a:solidFill>
            <a:srgbClr val="4B745B"/>
          </a:solidFill>
          <a:ln>
            <a:solidFill>
              <a:srgbClr val="4B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1984248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Score + sort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331720"/>
            <a:ext cx="3081528" cy="6126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Add points for matches, cap at 100 and sort highest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1605" y="3657600"/>
            <a:ext cx="6492240" cy="205740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92475" y="3826764"/>
            <a:ext cx="6217920" cy="1874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double score = 50;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if (</a:t>
            </a:r>
            <a:r>
              <a:rPr dirty="0" err="1"/>
              <a:t>foodType.equalsIgnoreCase</a:t>
            </a:r>
            <a:r>
              <a:rPr dirty="0"/>
              <a:t>(</a:t>
            </a:r>
            <a:r>
              <a:rPr dirty="0" err="1"/>
              <a:t>preferredFood</a:t>
            </a:r>
            <a:r>
              <a:rPr dirty="0"/>
              <a:t>)) score += 20;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if (</a:t>
            </a:r>
            <a:r>
              <a:rPr dirty="0" err="1"/>
              <a:t>spice.equalsIgnoreCase</a:t>
            </a:r>
            <a:r>
              <a:rPr dirty="0"/>
              <a:t>(</a:t>
            </a:r>
            <a:r>
              <a:rPr dirty="0" err="1"/>
              <a:t>preferredSpice</a:t>
            </a:r>
            <a:r>
              <a:rPr dirty="0"/>
              <a:t>)) score += 10;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if (</a:t>
            </a:r>
            <a:r>
              <a:rPr dirty="0" err="1"/>
              <a:t>favoriteMatch</a:t>
            </a:r>
            <a:r>
              <a:rPr dirty="0"/>
              <a:t>) score += 10;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score += </a:t>
            </a:r>
            <a:r>
              <a:rPr dirty="0" err="1"/>
              <a:t>Math.min</a:t>
            </a:r>
            <a:r>
              <a:rPr dirty="0"/>
              <a:t>(10, </a:t>
            </a:r>
            <a:r>
              <a:rPr dirty="0" err="1"/>
              <a:t>Math.max</a:t>
            </a:r>
            <a:r>
              <a:rPr dirty="0"/>
              <a:t>(0, </a:t>
            </a:r>
            <a:r>
              <a:rPr dirty="0" err="1"/>
              <a:t>meal.getRating</a:t>
            </a:r>
            <a:r>
              <a:rPr dirty="0"/>
              <a:t>() * 2));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score = </a:t>
            </a:r>
            <a:r>
              <a:rPr dirty="0" err="1"/>
              <a:t>Math.min</a:t>
            </a:r>
            <a:r>
              <a:rPr dirty="0"/>
              <a:t>(100, score);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Recommendation engine: scoring and explanation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05 • 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20574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Starting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143000"/>
            <a:ext cx="813816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50 points for each eligible meal.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0574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Food-type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737360"/>
            <a:ext cx="813816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+20 when meal foodType matches student's preferred type.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20574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Spice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331720"/>
            <a:ext cx="813816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+10 when spice level matches.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20574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Favourite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926080"/>
            <a:ext cx="813816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+10 when meal name/description matches favourite 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20574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Rating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520440"/>
            <a:ext cx="813816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Meal rating × 2, bounded from 0 to 10.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20574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Disliked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114800"/>
            <a:ext cx="813816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Exclude meal when name or description contains disliked 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20574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Final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709160"/>
            <a:ext cx="813816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2320"/>
                </a:solidFill>
                <a:latin typeface="Aptos"/>
              </a:defRPr>
            </a:pPr>
            <a:r>
              <a:t>Maximum 100; results sorted descending.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6" y="5532120"/>
            <a:ext cx="9762134" cy="31085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262320"/>
                </a:solidFill>
                <a:latin typeface="Aptos"/>
              </a:defRPr>
            </a:pPr>
            <a:r>
              <a:rPr dirty="0"/>
              <a:t>The reason field explains which matching rules contributed to the recommendation.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Firebase Firestore: collections and keys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06 • FIREBASE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212080" cy="11887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64008" cy="1188720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298448"/>
            <a:ext cx="48920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users/{uid}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4864608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name, email, hostel, room, foodType, role, preferences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212080" cy="11887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64008" cy="1188720"/>
          </a:xfrm>
          <a:prstGeom prst="rect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298448"/>
            <a:ext cx="48920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meals/{mealId}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864608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name, category, description, price, rating, available, isSpecial, isRecommended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97480"/>
            <a:ext cx="5212080" cy="11887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697480"/>
            <a:ext cx="64008" cy="1188720"/>
          </a:xfrm>
          <a:prstGeom prst="rect">
            <a:avLst/>
          </a:prstGeom>
          <a:solidFill>
            <a:srgbClr val="4B745B"/>
          </a:solidFill>
          <a:ln>
            <a:solidFill>
              <a:srgbClr val="4B7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807208"/>
            <a:ext cx="48920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ratings/{autoId}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54680"/>
            <a:ext cx="4864608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mealId, mealName, userId, rating, taste/quality/quantity, comment, createdAt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697480"/>
            <a:ext cx="5212080" cy="118872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697480"/>
            <a:ext cx="64008" cy="1188720"/>
          </a:xfrm>
          <a:prstGeom prst="rect">
            <a:avLst/>
          </a:prstGeom>
          <a:solidFill>
            <a:srgbClr val="9D4339"/>
          </a:solidFill>
          <a:ln>
            <a:solidFill>
              <a:srgbClr val="9D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807208"/>
            <a:ext cx="48920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62320"/>
                </a:solidFill>
                <a:latin typeface="Aptos"/>
              </a:defRPr>
            </a:pPr>
            <a:r>
              <a:t>dailyMenus/{date}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54680"/>
            <a:ext cx="4864608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696158"/>
                </a:solidFill>
                <a:latin typeface="Aptos"/>
              </a:defRPr>
            </a:pPr>
            <a:r>
              <a:t>meals map: category → selected meal ID; updatedAt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0434" y="4480561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rPr dirty="0" err="1"/>
              <a:t>Firestore</a:t>
            </a:r>
            <a:r>
              <a:rPr dirty="0"/>
              <a:t> document fields are keyed by the strings supplied to </a:t>
            </a:r>
            <a:r>
              <a:rPr dirty="0" err="1"/>
              <a:t>Map.put</a:t>
            </a:r>
            <a:r>
              <a:rPr dirty="0"/>
              <a:t>("</a:t>
            </a:r>
            <a:r>
              <a:rPr dirty="0" err="1"/>
              <a:t>fieldName</a:t>
            </a:r>
            <a:r>
              <a:rPr dirty="0"/>
              <a:t>", value) or by fields in a model object.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How code creates Firestore keys and documents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06 • FIREBASE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70532"/>
            <a:ext cx="6492240" cy="333756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556663"/>
            <a:ext cx="6217920" cy="31546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Map&lt;String, Object&gt; m1 = new HashMap&lt;&gt;();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m1.put("name", "Aloo Paratha &amp; Curd");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m1.put("category", "Breakfast");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m1.put("price", 45.0);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m1.put("rating", 4.7);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m1.put("available", true);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m1.put("</a:t>
            </a:r>
            <a:r>
              <a:rPr dirty="0" err="1"/>
              <a:t>isRecommended</a:t>
            </a:r>
            <a:r>
              <a:rPr dirty="0"/>
              <a:t>", true);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 err="1"/>
              <a:t>db.collection</a:t>
            </a:r>
            <a:r>
              <a:rPr dirty="0"/>
              <a:t>("meals").document("meal_breakfast_1").set(m1);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668219"/>
            <a:ext cx="3657600" cy="2560320"/>
          </a:xfrm>
          <a:prstGeom prst="rect">
            <a:avLst/>
          </a:prstGeom>
          <a:noFill/>
        </p:spPr>
        <p:txBody>
          <a:bodyPr wrap="square" lIns="54864" t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"name" is the field key; the meal title is its value.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"price" stores a numeric value; "available" stores a </a:t>
            </a:r>
            <a:r>
              <a:rPr dirty="0" err="1"/>
              <a:t>boolean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document("meal_breakfast_1") explicitly sets the document ID.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set(m1) writes/replaces that document's fields.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dirty="0"/>
              <a:t>• Queries must use matching field names and compatible value types.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How Firebase sends data back to the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06 • FIREBASE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965960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78308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Java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59152"/>
            <a:ext cx="17830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collection / query / get / set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86584" y="2395728"/>
            <a:ext cx="292608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70632" y="1828800"/>
            <a:ext cx="1965960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62072" y="2011680"/>
            <a:ext cx="178308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Firebase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359152"/>
            <a:ext cx="17830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Sends asynchronous request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45736" y="2395728"/>
            <a:ext cx="292608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9784" y="1828800"/>
            <a:ext cx="1965960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21224" y="2011680"/>
            <a:ext cx="178308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Cloud Firestore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359152"/>
            <a:ext cx="17830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Checks rules and reads/writes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04888" y="2395728"/>
            <a:ext cx="292608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88936" y="1828800"/>
            <a:ext cx="1965960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0375" y="2011680"/>
            <a:ext cx="178308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Task callback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375" y="2359152"/>
            <a:ext cx="17830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Success snapshot or failure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64040" y="2395728"/>
            <a:ext cx="292608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48088" y="1828800"/>
            <a:ext cx="1965960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39528" y="2011680"/>
            <a:ext cx="178308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UI /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359152"/>
            <a:ext cx="17830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Convert, display or report error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20440"/>
            <a:ext cx="6217920" cy="182880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3630168"/>
            <a:ext cx="594360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db.collection("meals").get()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.addOnSuccessListener(snapshot -&gt; {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    for (DocumentSnapshot doc : snapshot) {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        Meal meal = doc.toObject(Meal.class);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})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EFE2CD"/>
                </a:solidFill>
                <a:latin typeface="Consolas"/>
              </a:defRPr>
            </a:pPr>
            <a:r>
              <a:t>    .addOnFailureListener(error -&gt; showError(error));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657600"/>
            <a:ext cx="4114800" cy="1645920"/>
          </a:xfrm>
          <a:prstGeom prst="rect">
            <a:avLst/>
          </a:prstGeom>
          <a:noFill/>
        </p:spPr>
        <p:txBody>
          <a:bodyPr wrap="square" lIns="54864" t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Firestore requests are asynchronous; do not block the UI thread waiting.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QuerySnapshot contains matching documents.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DocumentSnapshot exposes field values and document ID.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toObject(Meal.class) maps fields into a Java model.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t>• Failure callbacks handle permissions, network or query errors.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From Firestore document to Java object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06 • FIREBASE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938528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691640"/>
            <a:ext cx="1792224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AD583D"/>
                </a:solidFill>
                <a:latin typeface="Aptos"/>
              </a:defRPr>
            </a:pPr>
            <a:r>
              <a:t>Firestore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057400"/>
            <a:ext cx="1792224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name, category, rating...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50591" y="2084831"/>
            <a:ext cx="274321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1508760"/>
            <a:ext cx="1938528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1" y="1691640"/>
            <a:ext cx="1792224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AD583D"/>
                </a:solidFill>
                <a:latin typeface="Aptos"/>
              </a:defRPr>
            </a:pPr>
            <a:r>
              <a:t>toObject(Meal.class)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1" y="2057400"/>
            <a:ext cx="1792224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Convert matching fields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82312" y="2084831"/>
            <a:ext cx="274319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59" y="1508760"/>
            <a:ext cx="1938528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9512" y="1691640"/>
            <a:ext cx="1792224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AD583D"/>
                </a:solidFill>
                <a:latin typeface="Aptos"/>
              </a:defRPr>
            </a:pPr>
            <a:r>
              <a:t>setId(doc.getId())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057400"/>
            <a:ext cx="1792224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Preserve document identity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14031" y="2084831"/>
            <a:ext cx="274321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1508760"/>
            <a:ext cx="1938528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71231" y="1691640"/>
            <a:ext cx="1792224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AD583D"/>
                </a:solidFill>
                <a:latin typeface="Aptos"/>
              </a:defRPr>
            </a:pPr>
            <a:r>
              <a:t>MealRepository callback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2057400"/>
            <a:ext cx="1792224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Return List&lt;Meal&gt;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45751" y="2084831"/>
            <a:ext cx="274321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508760"/>
            <a:ext cx="1938528" cy="11430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02952" y="1691640"/>
            <a:ext cx="1792224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AD583D"/>
                </a:solidFill>
                <a:latin typeface="Aptos"/>
              </a:defRPr>
            </a:pPr>
            <a:r>
              <a:t>Fragment / adapter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057400"/>
            <a:ext cx="1792224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Render cards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246120"/>
            <a:ext cx="5577840" cy="182880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3544" y="3355848"/>
            <a:ext cx="530352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t>Meal meal = doc.toObject(Meal.class);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t>if (meal != null) {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t>    meal.setId(doc.getId());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t>    meals.add(meal);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t>callback.onSuccess(meals);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337560"/>
            <a:ext cx="36576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262320"/>
                </a:solidFill>
                <a:latin typeface="Aptos"/>
              </a:defRPr>
            </a:pPr>
            <a:r>
              <a:t>Why set the ID separately?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794760"/>
            <a:ext cx="4297680" cy="12801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696158"/>
                </a:solidFill>
                <a:latin typeface="Aptos"/>
              </a:defRPr>
            </a:pPr>
            <a:r>
              <a:t>The Firestore document ID may not exist as a field inside the document. Assigning doc.getId() lets the app later open, update or relate to the exact document.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DataSeeder: sample data and initialization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06 • FIREBASE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263" y="1335024"/>
            <a:ext cx="5669280" cy="2103120"/>
          </a:xfrm>
          <a:prstGeom prst="roundRect">
            <a:avLst/>
          </a:prstGeom>
          <a:solidFill>
            <a:srgbClr val="23201E"/>
          </a:solidFill>
          <a:ln>
            <a:solidFill>
              <a:srgbClr val="232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21761" y="1508761"/>
            <a:ext cx="5394960" cy="192023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 err="1"/>
              <a:t>db.collection</a:t>
            </a:r>
            <a:r>
              <a:rPr dirty="0"/>
              <a:t>("meals").limit(1).get()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    .</a:t>
            </a:r>
            <a:r>
              <a:rPr dirty="0" err="1"/>
              <a:t>addOnSuccessListener</a:t>
            </a:r>
            <a:r>
              <a:rPr dirty="0"/>
              <a:t>(snapshot -&gt; {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        if (</a:t>
            </a:r>
            <a:r>
              <a:rPr dirty="0" err="1"/>
              <a:t>snapshot.isEmpty</a:t>
            </a:r>
            <a:r>
              <a:rPr dirty="0"/>
              <a:t>()) {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seedMeals</a:t>
            </a:r>
            <a:r>
              <a:rPr dirty="0"/>
              <a:t>(</a:t>
            </a:r>
            <a:r>
              <a:rPr dirty="0" err="1"/>
              <a:t>db</a:t>
            </a:r>
            <a:r>
              <a:rPr dirty="0"/>
              <a:t>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seedRatings</a:t>
            </a:r>
            <a:r>
              <a:rPr dirty="0"/>
              <a:t>(</a:t>
            </a:r>
            <a:r>
              <a:rPr dirty="0" err="1"/>
              <a:t>db</a:t>
            </a:r>
            <a:r>
              <a:rPr dirty="0"/>
              <a:t>);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        }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EFE2CD"/>
                </a:solidFill>
                <a:latin typeface="Consolas"/>
              </a:defRPr>
            </a:pPr>
            <a:r>
              <a:rPr dirty="0"/>
              <a:t>    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3739896"/>
            <a:ext cx="5974689" cy="1849737"/>
          </a:xfrm>
          <a:prstGeom prst="rect">
            <a:avLst/>
          </a:prstGeom>
          <a:noFill/>
        </p:spPr>
        <p:txBody>
          <a:bodyPr wrap="square" lIns="54864" t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sz="1600" dirty="0"/>
              <a:t>• Checks whether at least one meal document exists.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sz="1600" dirty="0"/>
              <a:t>• If the query is empty, seeds sample meals and ratings.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sz="1600" dirty="0"/>
              <a:t>• Uses explicit document IDs for demo meals, e.g. meal_breakfast_1.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sz="1600" dirty="0"/>
              <a:t>• Seeded fields power the Home and Menu screens.</a:t>
            </a:r>
          </a:p>
          <a:p>
            <a:pPr>
              <a:spcAft>
                <a:spcPts val="600"/>
              </a:spcAft>
              <a:defRPr sz="1200">
                <a:solidFill>
                  <a:srgbClr val="262320"/>
                </a:solidFill>
                <a:latin typeface="Aptos"/>
              </a:defRPr>
            </a:pPr>
            <a:r>
              <a:rPr sz="1600" dirty="0"/>
              <a:t>• Both </a:t>
            </a:r>
            <a:r>
              <a:rPr sz="1600" dirty="0" err="1"/>
              <a:t>SplashActivity</a:t>
            </a:r>
            <a:r>
              <a:rPr sz="1600" dirty="0"/>
              <a:t> and </a:t>
            </a:r>
            <a:r>
              <a:rPr sz="1600" dirty="0" err="1"/>
              <a:t>MainActivity</a:t>
            </a:r>
            <a:r>
              <a:rPr sz="1600" dirty="0"/>
              <a:t> invoke the seeder.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789920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262320"/>
                </a:solidFill>
                <a:latin typeface="Aptos Display"/>
              </a:defRPr>
            </a:pPr>
            <a:r>
              <a:t>How the code components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68680"/>
            <a:ext cx="960120" cy="50292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46888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AD583D"/>
                </a:solidFill>
                <a:latin typeface="Aptos"/>
              </a:defRPr>
            </a:pPr>
            <a:r>
              <a:t>07 • SYSTEM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300"/>
              </a:spcAft>
              <a:defRPr sz="800" b="0" i="0">
                <a:solidFill>
                  <a:srgbClr val="696158"/>
                </a:solidFill>
                <a:latin typeface="Aptos"/>
              </a:defRPr>
            </a:pPr>
            <a:r>
              <a:t>MESSMATE  •  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783080" cy="9144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1627632"/>
            <a:ext cx="1636776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1965960"/>
            <a:ext cx="1636776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Screen layout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1783080" cy="9144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6352" y="1627632"/>
            <a:ext cx="1636776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Activity / Fragment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1965960"/>
            <a:ext cx="1636776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User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463040"/>
            <a:ext cx="1783080" cy="9144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6632" y="1627632"/>
            <a:ext cx="1636776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1965960"/>
            <a:ext cx="1636776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Firestore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463040"/>
            <a:ext cx="1783080" cy="9144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96912" y="1627632"/>
            <a:ext cx="1636776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1965960"/>
            <a:ext cx="1636776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Typed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463040"/>
            <a:ext cx="1783080" cy="9144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45752" y="1627632"/>
            <a:ext cx="1636776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1965960"/>
            <a:ext cx="1636776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List row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3657600"/>
            <a:ext cx="1783080" cy="914400"/>
          </a:xfrm>
          <a:prstGeom prst="roundRect">
            <a:avLst/>
          </a:prstGeom>
          <a:solidFill>
            <a:srgbClr val="FFFCF7"/>
          </a:solidFill>
          <a:ln>
            <a:solidFill>
              <a:srgbClr val="DE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56632" y="3822191"/>
            <a:ext cx="1636776" cy="2468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AD583D"/>
                </a:solidFill>
                <a:latin typeface="Aptos"/>
              </a:defRPr>
            </a:pPr>
            <a:r>
              <a:t>ViewModel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4160520"/>
            <a:ext cx="1636776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300"/>
              </a:spcAft>
              <a:defRPr sz="1000" b="0" i="0">
                <a:solidFill>
                  <a:srgbClr val="696158"/>
                </a:solidFill>
                <a:latin typeface="Aptos"/>
              </a:defRPr>
            </a:pPr>
            <a:r>
              <a:t>Observable state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32304" y="1920240"/>
            <a:ext cx="265176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35424" y="1920240"/>
            <a:ext cx="402336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66560" y="1920240"/>
            <a:ext cx="411480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06840" y="1920240"/>
            <a:ext cx="320040" cy="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52160" y="2423160"/>
            <a:ext cx="0" cy="118872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720840" y="2468880"/>
            <a:ext cx="2788920" cy="1645920"/>
          </a:xfrm>
          <a:prstGeom prst="line">
            <a:avLst/>
          </a:prstGeom>
          <a:ln w="25400">
            <a:solidFill>
              <a:srgbClr val="BE9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7240" y="5257800"/>
            <a:ext cx="10515600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9D4339"/>
                </a:solidFill>
                <a:latin typeface="Aptos"/>
              </a:defRPr>
            </a:pPr>
            <a:r>
              <a:t>The current source does not route every screen through a ViewModel or repository. This diagram explains the roles and a typical data path; direct Firestore calls also exist.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C16A35-6BDA-A7D0-94FB-E4BA76DC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F97C50-F7CB-B4D3-3D0D-A80F212AFD69}"/>
              </a:ext>
            </a:extLst>
          </p:cNvPr>
          <p:cNvSpPr/>
          <p:nvPr/>
        </p:nvSpPr>
        <p:spPr>
          <a:xfrm>
            <a:off x="8458200" y="0"/>
            <a:ext cx="3730752" cy="6858000"/>
          </a:xfrm>
          <a:prstGeom prst="rect">
            <a:avLst/>
          </a:prstGeom>
          <a:solidFill>
            <a:srgbClr val="302B26"/>
          </a:solidFill>
          <a:ln>
            <a:solidFill>
              <a:srgbClr val="30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798E95C-C621-2D3F-F61B-134F71242203}"/>
              </a:ext>
            </a:extLst>
          </p:cNvPr>
          <p:cNvSpPr/>
          <p:nvPr/>
        </p:nvSpPr>
        <p:spPr>
          <a:xfrm>
            <a:off x="8732520" y="914400"/>
            <a:ext cx="2468880" cy="2468880"/>
          </a:xfrm>
          <a:prstGeom prst="ellipse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86A85B-858A-EB6B-93C1-00A4501298D8}"/>
              </a:ext>
            </a:extLst>
          </p:cNvPr>
          <p:cNvSpPr/>
          <p:nvPr/>
        </p:nvSpPr>
        <p:spPr>
          <a:xfrm>
            <a:off x="9646920" y="1874519"/>
            <a:ext cx="1691640" cy="1691640"/>
          </a:xfrm>
          <a:prstGeom prst="ellipse">
            <a:avLst/>
          </a:prstGeom>
          <a:solidFill>
            <a:srgbClr val="BE9953"/>
          </a:solidFill>
          <a:ln>
            <a:solidFill>
              <a:srgbClr val="BE9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B92174-4D7E-A008-F4BA-A00169037335}"/>
              </a:ext>
            </a:extLst>
          </p:cNvPr>
          <p:cNvSpPr/>
          <p:nvPr/>
        </p:nvSpPr>
        <p:spPr>
          <a:xfrm>
            <a:off x="8823960" y="3200400"/>
            <a:ext cx="2194560" cy="2194560"/>
          </a:xfrm>
          <a:prstGeom prst="ellipse">
            <a:avLst/>
          </a:prstGeom>
          <a:solidFill>
            <a:srgbClr val="ECE2D2"/>
          </a:solidFill>
          <a:ln>
            <a:solidFill>
              <a:srgbClr val="EC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9E8BC7-3B46-D21F-E8E4-13E6797756C5}"/>
              </a:ext>
            </a:extLst>
          </p:cNvPr>
          <p:cNvSpPr txBox="1"/>
          <p:nvPr/>
        </p:nvSpPr>
        <p:spPr>
          <a:xfrm>
            <a:off x="777240" y="960120"/>
            <a:ext cx="704088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BE9953"/>
                </a:solidFill>
                <a:latin typeface="Aptos"/>
              </a:defRPr>
            </a:pPr>
            <a:r>
              <a:t>MESSMATE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FA811-3BF7-CEB5-A118-2B3AF14F0B24}"/>
              </a:ext>
            </a:extLst>
          </p:cNvPr>
          <p:cNvSpPr txBox="1"/>
          <p:nvPr/>
        </p:nvSpPr>
        <p:spPr>
          <a:xfrm>
            <a:off x="822960" y="2241268"/>
            <a:ext cx="7406640" cy="146501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300"/>
              </a:spcAft>
              <a:defRPr sz="3800" b="1" i="0">
                <a:solidFill>
                  <a:srgbClr val="FFFFFF"/>
                </a:solidFill>
                <a:latin typeface="Aptos Display"/>
              </a:defRPr>
            </a:pPr>
            <a:r>
              <a:rPr lang="en-US" sz="8800" dirty="0"/>
              <a:t>THANK YOU</a:t>
            </a:r>
            <a:endParaRPr sz="8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B80878-E9E0-D836-883C-13D65FD8BD76}"/>
              </a:ext>
            </a:extLst>
          </p:cNvPr>
          <p:cNvSpPr/>
          <p:nvPr/>
        </p:nvSpPr>
        <p:spPr>
          <a:xfrm>
            <a:off x="822960" y="4343400"/>
            <a:ext cx="1005840" cy="54864"/>
          </a:xfrm>
          <a:prstGeom prst="rect">
            <a:avLst/>
          </a:prstGeom>
          <a:solidFill>
            <a:srgbClr val="AD583D"/>
          </a:solidFill>
          <a:ln>
            <a:solidFill>
              <a:srgbClr val="AD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5328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2992</Words>
  <Application>Microsoft Office PowerPoint</Application>
  <PresentationFormat>Widescreen</PresentationFormat>
  <Paragraphs>417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Harkirat_Kaur</dc:creator>
  <cp:keywords/>
  <dc:description>generated using python-pptx</dc:description>
  <cp:lastModifiedBy>harkiratkaur.kh@outlook.com</cp:lastModifiedBy>
  <cp:revision>4</cp:revision>
  <dcterms:created xsi:type="dcterms:W3CDTF">2013-01-27T09:14:16Z</dcterms:created>
  <dcterms:modified xsi:type="dcterms:W3CDTF">2026-10-15T10:37:40Z</dcterms:modified>
  <cp:category/>
</cp:coreProperties>
</file>